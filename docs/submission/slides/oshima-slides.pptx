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5E7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-jetfo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iragino Sans"/>
              </a:rPr>
              <a:t>東京都知事杯オープンデータ・ハッカソン2026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Hiragino Sans"/>
              </a:rPr>
              <a:t>船を降りたら、</a:t>
            </a:r>
          </a:p>
          <a:p>
            <a:pPr algn="l"/>
            <a:r>
              <a:rPr sz="4800" b="1">
                <a:solidFill>
                  <a:srgbClr val="FFFFFF"/>
                </a:solidFill>
                <a:latin typeface="Hiragino Sans"/>
              </a:rPr>
              <a:t>あとは島にまかせて。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77639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Sans"/>
              </a:rPr>
              <a:t>大島スマートコース — AIが読める伊豆大島の交通・観光ナレッジ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iragino Sans"/>
              </a:rPr>
              <a:t>SBC.別班連携チーム</a:t>
            </a:r>
          </a:p>
        </p:txBody>
      </p:sp>
      <p:pic>
        <p:nvPicPr>
          <p:cNvPr id="8" name="Picture 7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297680"/>
            <a:ext cx="1737360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64040" y="60533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Hiragino Sans"/>
              </a:rPr>
              <a:t>izu-oshima-smart-tourism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Hiragino Sans"/>
              </a:rPr>
              <a:t>.kotaroshimada38.workers.dev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iragino Sans"/>
              </a:rPr>
              <a:t>写真: Guilhem Vellut CC BY 2.0 (Wikimedia Commons)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0" cy="384048"/>
          </a:xfrm>
          <a:prstGeom prst="roundRect">
            <a:avLst/>
          </a:prstGeom>
          <a:solidFill>
            <a:srgbClr val="C9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55E75"/>
                </a:solidFill>
                <a:latin typeface="Hiragino Sans"/>
              </a:rPr>
              <a:t>その旅程、バスは本当にありますか？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525252"/>
                </a:solidFill>
                <a:latin typeface="Hiragino Sans"/>
              </a:rPr>
              <a:t>生成AIに伊豆大島の旅程を頼むと、それらしい答えが返ってくる。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525252"/>
                </a:solidFill>
                <a:latin typeface="Hiragino Sans"/>
              </a:rPr>
              <a:t>でも、そのバスは存在しない。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383280"/>
            <a:ext cx="53949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700" b="1">
                <a:solidFill>
                  <a:srgbClr val="C94F56"/>
                </a:solidFill>
                <a:latin typeface="Hiragino Sans"/>
              </a:rPr>
              <a:t>🤖 AIの旅程（ナレッジなし）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525252"/>
                </a:solidFill>
                <a:latin typeface="Hiragino Sans"/>
              </a:rPr>
              <a:t>「14:00 ホテル発のバスで三原山へ」</a:t>
            </a:r>
            <a:br/>
            <a:r>
              <a:rPr sz="1250" b="0">
                <a:solidFill>
                  <a:srgbClr val="525252"/>
                </a:solidFill>
                <a:latin typeface="Hiragino Sans"/>
              </a:rPr>
              <a:t>「16:30 のバスで港へ」</a:t>
            </a:r>
            <a:br/>
            <a:br/>
            <a:r>
              <a:rPr sz="1250" b="0">
                <a:solidFill>
                  <a:srgbClr val="525252"/>
                </a:solidFill>
                <a:latin typeface="Hiragino Sans"/>
              </a:rPr>
              <a:t>⛔ どちらも存在しない便（幻覚）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383280"/>
            <a:ext cx="53949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700" b="1">
                <a:solidFill>
                  <a:srgbClr val="155E75"/>
                </a:solidFill>
                <a:latin typeface="Hiragino Sans"/>
              </a:rPr>
              <a:t>📄 なぜ読めないのか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525252"/>
                </a:solidFill>
                <a:latin typeface="Hiragino Sans"/>
              </a:rPr>
              <a:t>時刻表はPDF、GTFSはzip。</a:t>
            </a:r>
            <a:br/>
            <a:r>
              <a:rPr sz="1250" b="0">
                <a:solidFill>
                  <a:srgbClr val="525252"/>
                </a:solidFill>
                <a:latin typeface="Hiragino Sans"/>
              </a:rPr>
              <a:t>AIは時刻表を直接読めない。</a:t>
            </a:r>
            <a:br/>
            <a:br/>
            <a:r>
              <a:rPr sz="1250" b="0">
                <a:solidFill>
                  <a:srgbClr val="525252"/>
                </a:solidFill>
                <a:latin typeface="Hiragino Sans"/>
              </a:rPr>
              <a:t>信頼できる旅程には「AIが読める形」の時刻表が必要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C9C"/>
                </a:solidFill>
                <a:latin typeface="Hiragino Sans"/>
              </a:rPr>
              <a:t>大島スマートコース ｜ SBC.別班連携チーム ｜ 東京都知事杯オープンデータ・ハッカソン2026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9C9C"/>
                </a:solidFill>
                <a:latin typeface="Hiragin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645920" cy="384048"/>
          </a:xfrm>
          <a:prstGeom prst="roundRect">
            <a:avLst/>
          </a:prstGeom>
          <a:solidFill>
            <a:srgbClr val="C9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島の現実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55E75"/>
                </a:solidFill>
                <a:latin typeface="Hiragino Sans"/>
              </a:rPr>
              <a:t>知らないと初日が崩れる、4つの数字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</a:p>
          <a:p>
            <a:pPr>
              <a:lnSpc>
                <a:spcPct val="115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77240" y="2084832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94F56"/>
                </a:solidFill>
                <a:latin typeface="Hiragino Sans"/>
              </a:rPr>
              <a:t>500円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2402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25252"/>
                </a:solidFill>
                <a:latin typeface="Hiragino Sans"/>
              </a:rPr>
              <a:t>大きな荷物はバスで1個500円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525252"/>
                </a:solidFill>
                <a:latin typeface="Hiragino Sans"/>
              </a:rPr>
              <a:t>混雑時は乗車拒否も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</a:p>
          <a:p>
            <a:pPr>
              <a:lnSpc>
                <a:spcPct val="115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46520" y="2084832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94F56"/>
                </a:solidFill>
                <a:latin typeface="Hiragino Sans"/>
              </a:rPr>
              <a:t>15:00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25252"/>
                </a:solidFill>
                <a:latin typeface="Hiragino Sans"/>
              </a:rPr>
              <a:t>宿のチェックインは15時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525252"/>
                </a:solidFill>
                <a:latin typeface="Hiragino Sans"/>
              </a:rPr>
              <a:t>それまで荷物を抱えたまま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6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</a:p>
          <a:p>
            <a:pPr>
              <a:lnSpc>
                <a:spcPct val="115000"/>
              </a:lnSpc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77240" y="4187952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94F56"/>
                </a:solidFill>
                <a:latin typeface="Hiragino Sans"/>
              </a:rPr>
              <a:t>1日3往復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343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25252"/>
                </a:solidFill>
                <a:latin typeface="Hiragino Sans"/>
              </a:rPr>
              <a:t>三原山ラインは1日3往復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525252"/>
                </a:solidFill>
                <a:latin typeface="Hiragino Sans"/>
              </a:rPr>
              <a:t>午後に山へ上がる便はない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</a:p>
          <a:p>
            <a:pPr>
              <a:lnSpc>
                <a:spcPct val="115000"/>
              </a:lnSpc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46520" y="4187952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94F56"/>
                </a:solidFill>
                <a:latin typeface="Hiragino Sans"/>
              </a:rPr>
              <a:t>未舗装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343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25252"/>
                </a:solidFill>
                <a:latin typeface="Hiragino Sans"/>
              </a:rPr>
              <a:t>山頂の遊歩道は未舗装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525252"/>
                </a:solidFill>
                <a:latin typeface="Hiragino Sans"/>
              </a:rPr>
              <a:t>キャリーケースでは行けない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C9C"/>
                </a:solidFill>
                <a:latin typeface="Hiragino Sans"/>
              </a:rPr>
              <a:t>大島スマートコース ｜ SBC.別班連携チーム ｜ 東京都知事杯オープンデータ・ハッカソン2026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9C9C"/>
                </a:solidFill>
                <a:latin typeface="Hiragin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377440" cy="38404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調査による裏付け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55E75"/>
                </a:solidFill>
                <a:latin typeface="Hiragino Sans"/>
              </a:rPr>
              <a:t>この課題は、数字で確認できる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110642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</a:p>
          <a:p>
            <a:pPr>
              <a:lnSpc>
                <a:spcPct val="115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77240" y="2002536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F56"/>
                </a:solidFill>
                <a:latin typeface="Hiragino Sans"/>
              </a:rPr>
              <a:t>年間 約19万人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993391"/>
            <a:ext cx="5852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25252"/>
                </a:solidFill>
                <a:latin typeface="Hiragino Sans"/>
              </a:rPr>
              <a:t>大島の来島者（令和4年188,867人・コロナ前24万人）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2167127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C9C"/>
                </a:solidFill>
                <a:latin typeface="Hiragino Sans"/>
              </a:rPr>
              <a:t>大島町町勢要覧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71800"/>
            <a:ext cx="110642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</a:p>
          <a:p>
            <a:pPr>
              <a:lnSpc>
                <a:spcPct val="115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77240" y="3099816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F56"/>
                </a:solidFill>
                <a:latin typeface="Hiragino Sans"/>
              </a:rPr>
              <a:t>77.8%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5852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25252"/>
                </a:solidFill>
                <a:latin typeface="Hiragino Sans"/>
              </a:rPr>
              <a:t>生成AI利用者の旅行での活用率。「行程作成」の意向が上位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326440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C9C"/>
                </a:solidFill>
                <a:latin typeface="Hiragino Sans"/>
              </a:rPr>
              <a:t>JTB総合研究所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80"/>
            <a:ext cx="110642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</a:p>
          <a:p>
            <a:pPr>
              <a:lnSpc>
                <a:spcPct val="115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77240" y="4197096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F56"/>
                </a:solidFill>
                <a:latin typeface="Hiragino Sans"/>
              </a:rPr>
              <a:t>「喫緊の課題」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187952"/>
            <a:ext cx="5852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25252"/>
                </a:solidFill>
                <a:latin typeface="Hiragino Sans"/>
              </a:rPr>
              <a:t>観光の二次交通確保について国が明記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436168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C9C"/>
                </a:solidFill>
                <a:latin typeface="Hiragino Sans"/>
              </a:rPr>
              <a:t>国土交通省 運輸局資料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66360"/>
            <a:ext cx="110642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</a:p>
          <a:p>
            <a:pPr>
              <a:lnSpc>
                <a:spcPct val="115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77240" y="5294376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F56"/>
                </a:solidFill>
                <a:latin typeface="Hiragino Sans"/>
              </a:rPr>
              <a:t>競合は空白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285232"/>
            <a:ext cx="5852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25252"/>
                </a:solidFill>
                <a:latin typeface="Hiragino Sans"/>
              </a:rPr>
              <a:t>乗換案内は旅程を作らず、AIは実在を保証しない。両立するサービスは未確認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545896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C9C"/>
                </a:solidFill>
                <a:latin typeface="Hiragino Sans"/>
              </a:rPr>
              <a:t>当チーム調査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C9C"/>
                </a:solidFill>
                <a:latin typeface="Hiragino Sans"/>
              </a:rPr>
              <a:t>大島スマートコース ｜ SBC.別班連携チーム ｜ 東京都知事杯オープンデータ・ハッカソン2026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9C9C"/>
                </a:solidFill>
                <a:latin typeface="Hiragin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011680" cy="38404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解決アイデア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55E75"/>
                </a:solidFill>
                <a:latin typeface="Hiragino Sans"/>
              </a:rPr>
              <a:t>AIが読めない → AIが読める形にする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700" b="1">
                <a:solidFill>
                  <a:srgbClr val="155E75"/>
                </a:solidFill>
                <a:latin typeface="Hiragino Sans"/>
              </a:rPr>
              <a:t>GTFS-JP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525252"/>
                </a:solidFill>
                <a:latin typeface="Hiragino Sans"/>
              </a:rPr>
              <a:t>大島バス全路線</a:t>
            </a:r>
            <a:br/>
            <a:r>
              <a:rPr sz="1250" b="0">
                <a:solidFill>
                  <a:srgbClr val="525252"/>
                </a:solidFill>
                <a:latin typeface="Hiragino Sans"/>
              </a:rPr>
              <a:t>（公共交通オープン</a:t>
            </a:r>
            <a:br/>
            <a:r>
              <a:rPr sz="1250" b="0">
                <a:solidFill>
                  <a:srgbClr val="525252"/>
                </a:solidFill>
                <a:latin typeface="Hiragino Sans"/>
              </a:rPr>
              <a:t>データセンター）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F56"/>
                </a:solidFill>
                <a:latin typeface="Hiragino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10312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700" b="1">
                <a:solidFill>
                  <a:srgbClr val="155E75"/>
                </a:solidFill>
                <a:latin typeface="Hiragino Sans"/>
              </a:rPr>
              <a:t>選抜停留所の表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525252"/>
                </a:solidFill>
                <a:latin typeface="Hiragino Sans"/>
              </a:rPr>
              <a:t>観光に必要な停留所だけ</a:t>
            </a:r>
            <a:br/>
            <a:r>
              <a:rPr sz="1250" b="0">
                <a:solidFill>
                  <a:srgbClr val="525252"/>
                </a:solidFill>
                <a:latin typeface="Hiragino Sans"/>
              </a:rPr>
              <a:t>識別子・座標なし</a:t>
            </a:r>
            <a:br/>
            <a:r>
              <a:rPr sz="1250" b="0">
                <a:solidFill>
                  <a:srgbClr val="525252"/>
                </a:solidFill>
                <a:latin typeface="Hiragino Sans"/>
              </a:rPr>
              <a:t>＝復元不可能な要約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7608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F56"/>
                </a:solidFill>
                <a:latin typeface="Hiragino San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210312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700" b="1">
                <a:solidFill>
                  <a:srgbClr val="155E75"/>
                </a:solidFill>
                <a:latin typeface="Hiragino Sans"/>
              </a:rPr>
              <a:t>暗黙知 10項目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525252"/>
                </a:solidFill>
                <a:latin typeface="Hiragino Sans"/>
              </a:rPr>
              <a:t>港は当日決まる</a:t>
            </a:r>
            <a:br/>
            <a:r>
              <a:rPr sz="1250" b="0">
                <a:solidFill>
                  <a:srgbClr val="525252"/>
                </a:solidFill>
                <a:latin typeface="Hiragino Sans"/>
              </a:rPr>
              <a:t>荷物ルール</a:t>
            </a:r>
            <a:br/>
            <a:r>
              <a:rPr sz="1250" b="0">
                <a:solidFill>
                  <a:srgbClr val="525252"/>
                </a:solidFill>
                <a:latin typeface="Hiragino Sans"/>
              </a:rPr>
              <a:t>午後の上りなし…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7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4F56"/>
                </a:solidFill>
                <a:latin typeface="Hiragino Sa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19" y="210312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700" b="1">
                <a:solidFill>
                  <a:srgbClr val="C94F56"/>
                </a:solidFill>
                <a:latin typeface="Hiragino Sans"/>
              </a:rPr>
              <a:t>検証付き旅程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525252"/>
                </a:solidFill>
                <a:latin typeface="Hiragino Sans"/>
              </a:rPr>
              <a:t>表にない便は作らない</a:t>
            </a:r>
            <a:br/>
            <a:r>
              <a:rPr sz="1250" b="0">
                <a:solidFill>
                  <a:srgbClr val="525252"/>
                </a:solidFill>
                <a:latin typeface="Hiragino Sans"/>
              </a:rPr>
              <a:t>帰りの船から逆算</a:t>
            </a:r>
            <a:br/>
            <a:r>
              <a:rPr sz="1250" b="0">
                <a:solidFill>
                  <a:srgbClr val="525252"/>
                </a:solidFill>
                <a:latin typeface="Hiragino Sans"/>
              </a:rPr>
              <a:t>荷物で分岐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94F56"/>
                </a:solidFill>
                <a:latin typeface="Hiragino Sans"/>
              </a:rPr>
              <a:t>生成AIは説明を、時刻は実在便だけ。— 幻覚のない旅程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C9C"/>
                </a:solidFill>
                <a:latin typeface="Hiragino Sans"/>
              </a:rPr>
              <a:t>大島スマートコース ｜ SBC.別班連携チーム ｜ 東京都知事杯オープンデータ・ハッカソン2026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9C9C"/>
                </a:solidFill>
                <a:latin typeface="Hiragin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737360" cy="38404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公開アプリ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55E75"/>
                </a:solidFill>
                <a:latin typeface="Hiragino Sans"/>
              </a:rPr>
              <a:t>スマホで、QRから、今すぐ使える</a:t>
            </a:r>
          </a:p>
        </p:txBody>
      </p:sp>
      <p:pic>
        <p:nvPicPr>
          <p:cNvPr id="4" name="Picture 3" descr="01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577840" cy="31363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8288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252"/>
                </a:solidFill>
                <a:latin typeface="Hiragino Sans"/>
              </a:rPr>
              <a:t>・日付・期間（日帰り〜2泊3日）・港・荷物・コースを選ぶだけ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957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252"/>
                </a:solidFill>
                <a:latin typeface="Hiragino Sans"/>
              </a:rPr>
              <a:t>・実在バス便53便だけで旅程を自動生成（✅時刻表と一致・便ID表示）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6265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252"/>
                </a:solidFill>
                <a:latin typeface="Hiragino Sans"/>
              </a:rPr>
              <a:t>・旅程ルートの地図表示（Leaflet＋OpenStreetMap）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958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252"/>
                </a:solidFill>
                <a:latin typeface="Hiragino Sans"/>
              </a:rPr>
              <a:t>・気象庁予報が選択日に連動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9651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252"/>
                </a:solidFill>
                <a:latin typeface="Hiragino Sans"/>
              </a:rPr>
              <a:t>・AIガイド解説＋バスガイド風の音声読み上げ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252"/>
                </a:solidFill>
                <a:latin typeface="Hiragino Sans"/>
              </a:rPr>
              <a:t>・日本語／英語ワンタップ切替・SNS共有・QR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94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Hiragino Sans"/>
              </a:rPr>
              <a:t>izu-oshima-smart-tourism.kotaroshimada38.workers.dev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C9C"/>
                </a:solidFill>
                <a:latin typeface="Hiragino Sans"/>
              </a:rPr>
              <a:t>大島スマートコース ｜ SBC.別班連携チーム ｜ 東京都知事杯オープンデータ・ハッカソン2026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9C9C"/>
                </a:solidFill>
                <a:latin typeface="Hiragino Sans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50" y="6000750"/>
            <a:ext cx="1146019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Hiragino Kaku Gothic ProN"/>
              </a:rPr>
              <a:t>画面内写真: Guilhem Vellut / CC BY 2.0 (Wikimedia Commons)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88720" cy="38404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実演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55E75"/>
                </a:solidFill>
                <a:latin typeface="Hiragino Sans"/>
              </a:rPr>
              <a:t>荷物とコースで、旅程が組み替わる</a:t>
            </a:r>
          </a:p>
        </p:txBody>
      </p:sp>
      <p:pic>
        <p:nvPicPr>
          <p:cNvPr id="4" name="Picture 3" descr="03_plan.png"/>
          <p:cNvPicPr>
            <a:picLocks noChangeAspect="1"/>
          </p:cNvPicPr>
          <p:nvPr/>
        </p:nvPicPr>
        <p:blipFill>
          <a:blip r:embed="rId2"/>
          <a:srcRect l="28000" r="28000"/>
          <a:stretch>
            <a:fillRect/>
          </a:stretch>
        </p:blipFill>
        <p:spPr>
          <a:xfrm>
            <a:off x="1371600" y="1783080"/>
            <a:ext cx="3794760" cy="3200400"/>
          </a:xfrm>
          <a:prstGeom prst="rect">
            <a:avLst/>
          </a:prstGeom>
        </p:spPr>
      </p:pic>
      <p:pic>
        <p:nvPicPr>
          <p:cNvPr id="5" name="Picture 4" descr="app_park_map.png"/>
          <p:cNvPicPr>
            <a:picLocks noChangeAspect="1"/>
          </p:cNvPicPr>
          <p:nvPr/>
        </p:nvPicPr>
        <p:blipFill>
          <a:blip r:embed="rId3"/>
          <a:srcRect l="28000" r="28000"/>
          <a:stretch>
            <a:fillRect/>
          </a:stretch>
        </p:blipFill>
        <p:spPr>
          <a:xfrm>
            <a:off x="6949440" y="1783080"/>
            <a:ext cx="379476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120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5E75"/>
                </a:solidFill>
                <a:latin typeface="Hiragino Sans"/>
              </a:rPr>
              <a:t>🧳 王道・三原山コース（荷物あり）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51206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55E75"/>
                </a:solidFill>
                <a:latin typeface="Hiragino Sans"/>
              </a:rPr>
              <a:t>🦩 大島公園コース — 港乗り継ぎも自動探索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55E75"/>
                </a:solidFill>
                <a:latin typeface="Hiragino Sans"/>
              </a:rPr>
              <a:t>（三原山／大島公園／波浮港の3コース）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C9C"/>
                </a:solidFill>
                <a:latin typeface="Hiragino Sans"/>
              </a:rPr>
              <a:t>大島スマートコース ｜ SBC.別班連携チーム ｜ 東京都知事杯オープンデータ・ハッカソン2026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9C9C"/>
                </a:solidFill>
                <a:latin typeface="Hiragino San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0" y="6000750"/>
            <a:ext cx="1146019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Hiragino Kaku Gothic ProN"/>
              </a:rPr>
              <a:t>画面内写真: Kentaro Ohno / CC BY 2.0・yano / CC BY-SA 3.0・Yoshi Canopus・(WT-shared) Shoestring・Tsuyoshi chiba / CC BY-SA 4.0 (Wikimedia Commons)／地図: © OpenStreetMap contributors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926080" cy="38404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技術とライセンス配慮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55E75"/>
                </a:solidFill>
                <a:latin typeface="Hiragino Sans"/>
              </a:rPr>
              <a:t>実在便だけを使い、元データは配らない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5440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700" b="1">
                <a:solidFill>
                  <a:srgbClr val="155E75"/>
                </a:solidFill>
                <a:latin typeface="Hiragino Sans"/>
              </a:rPr>
              <a:t>🔒 幻覚ゼロの設計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525252"/>
                </a:solidFill>
                <a:latin typeface="Hiragino Sans"/>
              </a:rPr>
              <a:t>・旅程の時刻はGTFS実在便のみ（全便に検証マーク）</a:t>
            </a:r>
            <a:br/>
            <a:r>
              <a:rPr sz="1250" b="0">
                <a:solidFill>
                  <a:srgbClr val="525252"/>
                </a:solidFill>
                <a:latin typeface="Hiragino Sans"/>
              </a:rPr>
              <a:t>・AI(claude-opus-5)は旅程JSONだけを引用して解説</a:t>
            </a:r>
            <a:br/>
            <a:r>
              <a:rPr sz="1250" b="0">
                <a:solidFill>
                  <a:srgbClr val="525252"/>
                </a:solidFill>
                <a:latin typeface="Hiragino Sans"/>
              </a:rPr>
              <a:t>・失敗時はテンプレ文へ自動フォールバック</a:t>
            </a:r>
            <a:br/>
            <a:r>
              <a:rPr sz="1250" b="0">
                <a:solidFill>
                  <a:srgbClr val="525252"/>
                </a:solidFill>
                <a:latin typeface="Hiragino Sans"/>
              </a:rPr>
              <a:t>・実GTFSと手入力時刻表の突合で正確性を実証（完全一致）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20240"/>
            <a:ext cx="5440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700" b="1">
                <a:solidFill>
                  <a:srgbClr val="155E75"/>
                </a:solidFill>
                <a:latin typeface="Hiragino Sans"/>
              </a:rPr>
              <a:t>⚖️ ライセンス配慮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525252"/>
                </a:solidFill>
                <a:latin typeface="Hiragino Sans"/>
              </a:rPr>
              <a:t>・識別子(trip_id等)・座標を出力しない</a:t>
            </a:r>
            <a:br/>
            <a:r>
              <a:rPr sz="1250" b="0">
                <a:solidFill>
                  <a:srgbClr val="525252"/>
                </a:solidFill>
                <a:latin typeface="Hiragino Sans"/>
              </a:rPr>
              <a:t>・選抜停留所のみ＝復元不可能な要約</a:t>
            </a:r>
            <a:br/>
            <a:r>
              <a:rPr sz="1250" b="0">
                <a:solidFill>
                  <a:srgbClr val="525252"/>
                </a:solidFill>
                <a:latin typeface="Hiragino Sans"/>
              </a:rPr>
              <a:t>・便IDは合成(MIHARA_UP_1020形式)</a:t>
            </a:r>
            <a:br/>
            <a:r>
              <a:rPr sz="1250" b="0">
                <a:solidFill>
                  <a:srgbClr val="525252"/>
                </a:solidFill>
                <a:latin typeface="Hiragino Sans"/>
              </a:rPr>
              <a:t>・写真はCC BY/CC BY-SAで帰属明記</a:t>
            </a:r>
            <a:br/>
            <a:r>
              <a:rPr sz="1250" b="0">
                <a:solidFill>
                  <a:srgbClr val="525252"/>
                </a:solidFill>
                <a:latin typeface="Hiragino Sans"/>
              </a:rPr>
              <a:t>・地図は© OpenStreetMap contributors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C9C"/>
                </a:solidFill>
                <a:latin typeface="Hiragino Sans"/>
              </a:rPr>
              <a:t>大島スマートコース ｜ SBC.別班連携チーム ｜ 東京都知事杯オープンデータ・ハッカソン2026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9C9C"/>
                </a:solidFill>
                <a:latin typeface="Hiragino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560320" cy="38404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インパクトと広がり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55E75"/>
                </a:solidFill>
                <a:latin typeface="Hiragino Sans"/>
              </a:rPr>
              <a:t>到着直後の半日を、</a:t>
            </a:r>
          </a:p>
          <a:p>
            <a:pPr algn="l"/>
            <a:r>
              <a:rPr sz="4000" b="1">
                <a:solidFill>
                  <a:srgbClr val="155E75"/>
                </a:solidFill>
                <a:latin typeface="Hiragino Sans"/>
              </a:rPr>
              <a:t>観光の時間に。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25252"/>
                </a:solidFill>
                <a:latin typeface="Hiragino Sans"/>
              </a:rPr>
              <a:t>年間約19万人が訪れる伊豆大島で、荷物に縛られる初日をなくす。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94F56"/>
                </a:solidFill>
                <a:latin typeface="Hiragino Sans"/>
              </a:rPr>
              <a:t>GTFSがある島・地方へ、そのまま横展開。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252"/>
                </a:solidFill>
                <a:latin typeface="Hiragino Sans"/>
              </a:rPr>
              <a:t>運用: OSSとして公開し、ダイヤ改定ごとに1コマンドで再生成。NPO・Code forのネットワークで現地と協働。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C9C"/>
                </a:solidFill>
                <a:latin typeface="Hiragino Sans"/>
              </a:rPr>
              <a:t>大島スマートコース ｜ SBC.別班連携チーム ｜ 東京都知事杯オープンデータ・ハッカソン2026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9C9C"/>
                </a:solidFill>
                <a:latin typeface="Hiragino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5E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iragino Sans"/>
              </a:rPr>
              <a:t>使ったオープンデータ・ツール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iragino Sans"/>
              </a:rPr>
              <a:t>・大島バス GTFS-JP（公共交通オープンデータセンター）— 本作品の核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21408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iragino Sans"/>
              </a:rPr>
              <a:t>・気象庁 天気予報JSON ／ OpenStreetMap（地図・座標）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88336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iragino Sans"/>
              </a:rPr>
              <a:t>・伊豆諸島・小笠原諸島 観光客入込実態調査（東京都）・大島町町勢要覧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55264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iragino Sans"/>
              </a:rPr>
              <a:t>・東海汽船 時刻表 ／ 大島バス 手荷物規定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22191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iragino Sans"/>
              </a:rPr>
              <a:t>・開発: Claude API・Claude Code・Cloudflare・Leaflet・Web Speech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iragino Sans"/>
              </a:rPr>
              <a:t>オープンデータ × ドメイン知識 ×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iragino Sans"/>
              </a:rPr>
              <a:t>🏝️ 大島スマートコース ｜ SBC.別班連携チーム</a:t>
            </a:r>
          </a:p>
        </p:txBody>
      </p:sp>
      <p:pic>
        <p:nvPicPr>
          <p:cNvPr id="10" name="Picture 9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206240"/>
            <a:ext cx="18288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18320" y="6080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</a:rPr>
              <a:t>今すぐ使えます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0" y="6000750"/>
            <a:ext cx="87780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B9CDD2"/>
                </a:solidFill>
                <a:latin typeface="Hiragino Kaku Gothic ProN"/>
              </a:rPr>
              <a:t>写真クレジット(Wikimedia Commons): Guilhem Vellut・Kentaro Ohno (CC BY 2.0)／lienyuan lee・alonfloc (CC BY 3.0)／Cassiopeia sweet・yano (CC BY-SA 3.0)／Yoshi Canopus・(WT-shared) Shoestring・Tsuyoshi chiba (CC BY-SA 4.0)／地図: © OpenStreetMap contributors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